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Economica"/>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Economica-bold.fntdata"/><Relationship Id="rId23" Type="http://schemas.openxmlformats.org/officeDocument/2006/relationships/font" Target="fonts/Economica-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Economica-boldItalic.fntdata"/><Relationship Id="rId25" Type="http://schemas.openxmlformats.org/officeDocument/2006/relationships/font" Target="fonts/Economica-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e929b31b6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e929b31b6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6f8954bc_0_9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6f8954b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e8f908c6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e8f908c6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e8f908c65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e8f908c65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e8f908c65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e8f908c65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e8f908c65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e8f908c65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e93a1c56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e93a1c56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e8f908c65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e8f908c65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8f908c65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e8f908c65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e929b31b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e929b31b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e8f908c65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e8f908c65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e91ac5ba8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e91ac5ba8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93a1c562a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93a1c562a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93a1c562a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e93a1c562a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93a1c562a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93a1c562a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e93a1c562a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e93a1c562a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e94083f247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e94083f247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jp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1.jpg"/><Relationship Id="rId5"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jpg"/><Relationship Id="rId4"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1.png"/><Relationship Id="rId6"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title"/>
          </p:nvPr>
        </p:nvSpPr>
        <p:spPr>
          <a:xfrm>
            <a:off x="144850" y="231800"/>
            <a:ext cx="6670800" cy="2135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Machine Learning Presentation</a:t>
            </a:r>
            <a:endParaRPr/>
          </a:p>
          <a:p>
            <a:pPr indent="0" lvl="0" marL="0" rtl="0" algn="ctr">
              <a:spcBef>
                <a:spcPts val="0"/>
              </a:spcBef>
              <a:spcAft>
                <a:spcPts val="0"/>
              </a:spcAft>
              <a:buNone/>
            </a:pPr>
            <a:r>
              <a:rPr lang="it"/>
              <a:t>Table Tennis Contest</a:t>
            </a:r>
            <a:endParaRPr/>
          </a:p>
          <a:p>
            <a:pPr indent="0" lvl="0" marL="0" rtl="0" algn="ctr">
              <a:spcBef>
                <a:spcPts val="0"/>
              </a:spcBef>
              <a:spcAft>
                <a:spcPts val="0"/>
              </a:spcAft>
              <a:buClr>
                <a:schemeClr val="dk1"/>
              </a:buClr>
              <a:buSzPts val="1100"/>
              <a:buFont typeface="Arial"/>
              <a:buNone/>
            </a:pPr>
            <a:r>
              <a:rPr lang="it"/>
              <a:t>Group 19</a:t>
            </a:r>
            <a:endParaRPr/>
          </a:p>
        </p:txBody>
      </p:sp>
      <p:sp>
        <p:nvSpPr>
          <p:cNvPr id="63" name="Google Shape;63;p13"/>
          <p:cNvSpPr txBox="1"/>
          <p:nvPr/>
        </p:nvSpPr>
        <p:spPr>
          <a:xfrm>
            <a:off x="185100" y="3106300"/>
            <a:ext cx="4386900" cy="19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4200">
                <a:solidFill>
                  <a:schemeClr val="dk1"/>
                </a:solidFill>
                <a:latin typeface="Economica"/>
                <a:ea typeface="Economica"/>
                <a:cs typeface="Economica"/>
                <a:sym typeface="Economica"/>
              </a:rPr>
              <a:t>Members:</a:t>
            </a:r>
            <a:endParaRPr sz="4200">
              <a:solidFill>
                <a:schemeClr val="dk1"/>
              </a:solidFill>
              <a:latin typeface="Economica"/>
              <a:ea typeface="Economica"/>
              <a:cs typeface="Economica"/>
              <a:sym typeface="Economica"/>
            </a:endParaRPr>
          </a:p>
          <a:p>
            <a:pPr indent="0" lvl="0" marL="0" rtl="0" algn="l">
              <a:spcBef>
                <a:spcPts val="0"/>
              </a:spcBef>
              <a:spcAft>
                <a:spcPts val="0"/>
              </a:spcAft>
              <a:buNone/>
            </a:pPr>
            <a:r>
              <a:rPr lang="it" sz="1800">
                <a:solidFill>
                  <a:schemeClr val="dk1"/>
                </a:solidFill>
                <a:latin typeface="Open Sans"/>
                <a:ea typeface="Open Sans"/>
                <a:cs typeface="Open Sans"/>
                <a:sym typeface="Open Sans"/>
              </a:rPr>
              <a:t>Antonio Sessa 0622702305</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rPr lang="it" sz="1800">
                <a:solidFill>
                  <a:schemeClr val="dk1"/>
                </a:solidFill>
                <a:latin typeface="Open Sans"/>
                <a:ea typeface="Open Sans"/>
                <a:cs typeface="Open Sans"/>
                <a:sym typeface="Open Sans"/>
              </a:rPr>
              <a:t>Angelo Molinario 0622702311</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rPr lang="it" sz="1800">
                <a:solidFill>
                  <a:schemeClr val="dk1"/>
                </a:solidFill>
                <a:latin typeface="Open Sans"/>
                <a:ea typeface="Open Sans"/>
                <a:cs typeface="Open Sans"/>
                <a:sym typeface="Open Sans"/>
              </a:rPr>
              <a:t>Massimiliano Ranauro 0622702373</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rPr lang="it" sz="1800">
                <a:solidFill>
                  <a:schemeClr val="dk1"/>
                </a:solidFill>
                <a:latin typeface="Open Sans"/>
                <a:ea typeface="Open Sans"/>
                <a:cs typeface="Open Sans"/>
                <a:sym typeface="Open Sans"/>
              </a:rPr>
              <a:t>Pietro Martano 0622702402</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64" name="Google Shape;64;p13"/>
          <p:cNvSpPr txBox="1"/>
          <p:nvPr/>
        </p:nvSpPr>
        <p:spPr>
          <a:xfrm>
            <a:off x="4636775" y="3956025"/>
            <a:ext cx="4386900" cy="988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it" sz="1800">
                <a:solidFill>
                  <a:schemeClr val="dk1"/>
                </a:solidFill>
                <a:latin typeface="Open Sans"/>
                <a:ea typeface="Open Sans"/>
                <a:cs typeface="Open Sans"/>
                <a:sym typeface="Open Sans"/>
              </a:rPr>
              <a:t>Prof. Mario Vento</a:t>
            </a:r>
            <a:endParaRPr sz="1800">
              <a:solidFill>
                <a:schemeClr val="dk1"/>
              </a:solidFill>
              <a:latin typeface="Open Sans"/>
              <a:ea typeface="Open Sans"/>
              <a:cs typeface="Open Sans"/>
              <a:sym typeface="Open Sans"/>
            </a:endParaRPr>
          </a:p>
          <a:p>
            <a:pPr indent="0" lvl="0" marL="0" rtl="0" algn="r">
              <a:spcBef>
                <a:spcPts val="0"/>
              </a:spcBef>
              <a:spcAft>
                <a:spcPts val="0"/>
              </a:spcAft>
              <a:buNone/>
            </a:pPr>
            <a:r>
              <a:rPr lang="it" sz="1800">
                <a:solidFill>
                  <a:schemeClr val="dk1"/>
                </a:solidFill>
                <a:latin typeface="Open Sans"/>
                <a:ea typeface="Open Sans"/>
                <a:cs typeface="Open Sans"/>
                <a:sym typeface="Open Sans"/>
              </a:rPr>
              <a:t>Prof. Pasquale Foggia</a:t>
            </a:r>
            <a:endParaRPr sz="1800">
              <a:solidFill>
                <a:schemeClr val="dk1"/>
              </a:solidFill>
              <a:latin typeface="Open Sans"/>
              <a:ea typeface="Open Sans"/>
              <a:cs typeface="Open Sans"/>
              <a:sym typeface="Open Sans"/>
            </a:endParaRPr>
          </a:p>
          <a:p>
            <a:pPr indent="0" lvl="0" marL="0" rtl="0" algn="r">
              <a:spcBef>
                <a:spcPts val="0"/>
              </a:spcBef>
              <a:spcAft>
                <a:spcPts val="0"/>
              </a:spcAft>
              <a:buNone/>
            </a:pPr>
            <a:r>
              <a:rPr lang="it" sz="1800">
                <a:solidFill>
                  <a:schemeClr val="dk1"/>
                </a:solidFill>
                <a:latin typeface="Open Sans"/>
                <a:ea typeface="Open Sans"/>
                <a:cs typeface="Open Sans"/>
                <a:sym typeface="Open Sans"/>
              </a:rPr>
              <a:t>Prof. Diego Gragnaniello</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grpSp>
        <p:nvGrpSpPr>
          <p:cNvPr id="65" name="Google Shape;65;p13"/>
          <p:cNvGrpSpPr/>
          <p:nvPr/>
        </p:nvGrpSpPr>
        <p:grpSpPr>
          <a:xfrm>
            <a:off x="6835241" y="231798"/>
            <a:ext cx="2068026" cy="2265164"/>
            <a:chOff x="786633" y="199280"/>
            <a:chExt cx="2135067" cy="2650245"/>
          </a:xfrm>
        </p:grpSpPr>
        <p:pic>
          <p:nvPicPr>
            <p:cNvPr id="66" name="Google Shape;66;p13"/>
            <p:cNvPicPr preferRelativeResize="0"/>
            <p:nvPr/>
          </p:nvPicPr>
          <p:blipFill>
            <a:blip r:embed="rId3">
              <a:alphaModFix/>
            </a:blip>
            <a:stretch>
              <a:fillRect/>
            </a:stretch>
          </p:blipFill>
          <p:spPr>
            <a:xfrm>
              <a:off x="786633" y="199280"/>
              <a:ext cx="2135067" cy="2135100"/>
            </a:xfrm>
            <a:prstGeom prst="rect">
              <a:avLst/>
            </a:prstGeom>
            <a:noFill/>
            <a:ln>
              <a:noFill/>
            </a:ln>
          </p:spPr>
        </p:pic>
        <p:pic>
          <p:nvPicPr>
            <p:cNvPr id="67" name="Google Shape;67;p13"/>
            <p:cNvPicPr preferRelativeResize="0"/>
            <p:nvPr/>
          </p:nvPicPr>
          <p:blipFill>
            <a:blip r:embed="rId4">
              <a:alphaModFix/>
            </a:blip>
            <a:stretch>
              <a:fillRect/>
            </a:stretch>
          </p:blipFill>
          <p:spPr>
            <a:xfrm>
              <a:off x="1016075" y="2265350"/>
              <a:ext cx="1478468" cy="58417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The main tasks</a:t>
            </a:r>
            <a:endParaRPr/>
          </a:p>
        </p:txBody>
      </p:sp>
      <p:cxnSp>
        <p:nvCxnSpPr>
          <p:cNvPr id="73" name="Google Shape;73;p14"/>
          <p:cNvCxnSpPr/>
          <p:nvPr/>
        </p:nvCxnSpPr>
        <p:spPr>
          <a:xfrm>
            <a:off x="4364550" y="1242375"/>
            <a:ext cx="414900" cy="0"/>
          </a:xfrm>
          <a:prstGeom prst="straightConnector1">
            <a:avLst/>
          </a:prstGeom>
          <a:noFill/>
          <a:ln cap="flat" cmpd="sng" w="28575">
            <a:solidFill>
              <a:schemeClr val="lt2"/>
            </a:solidFill>
            <a:prstDash val="solid"/>
            <a:round/>
            <a:headEnd len="sm" w="sm" type="none"/>
            <a:tailEnd len="sm" w="sm" type="none"/>
          </a:ln>
        </p:spPr>
      </p:cxnSp>
      <p:grpSp>
        <p:nvGrpSpPr>
          <p:cNvPr id="74" name="Google Shape;74;p14"/>
          <p:cNvGrpSpPr/>
          <p:nvPr/>
        </p:nvGrpSpPr>
        <p:grpSpPr>
          <a:xfrm>
            <a:off x="437825" y="1568589"/>
            <a:ext cx="2685450" cy="3086700"/>
            <a:chOff x="437825" y="1568589"/>
            <a:chExt cx="2685450" cy="3086700"/>
          </a:xfrm>
        </p:grpSpPr>
        <p:sp>
          <p:nvSpPr>
            <p:cNvPr id="75" name="Google Shape;75;p14"/>
            <p:cNvSpPr/>
            <p:nvPr/>
          </p:nvSpPr>
          <p:spPr>
            <a:xfrm>
              <a:off x="440075" y="1568589"/>
              <a:ext cx="2683200" cy="3086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nvSpPr>
          <p:spPr>
            <a:xfrm>
              <a:off x="437825" y="1568589"/>
              <a:ext cx="2683200" cy="41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4"/>
          <p:cNvSpPr txBox="1"/>
          <p:nvPr>
            <p:ph idx="4294967295" type="body"/>
          </p:nvPr>
        </p:nvSpPr>
        <p:spPr>
          <a:xfrm>
            <a:off x="516625" y="1562875"/>
            <a:ext cx="2484300" cy="4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lt1"/>
                </a:solidFill>
              </a:rPr>
              <a:t>Inverse kinematics</a:t>
            </a:r>
            <a:endParaRPr>
              <a:solidFill>
                <a:schemeClr val="lt1"/>
              </a:solidFill>
            </a:endParaRPr>
          </a:p>
        </p:txBody>
      </p:sp>
      <p:sp>
        <p:nvSpPr>
          <p:cNvPr id="78" name="Google Shape;78;p14"/>
          <p:cNvSpPr txBox="1"/>
          <p:nvPr>
            <p:ph idx="4294967295" type="body"/>
          </p:nvPr>
        </p:nvSpPr>
        <p:spPr>
          <a:xfrm>
            <a:off x="518000" y="2091275"/>
            <a:ext cx="2494500" cy="2563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it" sz="1400"/>
              <a:t>Create an inverse kinematics dataset</a:t>
            </a:r>
            <a:endParaRPr sz="1400"/>
          </a:p>
          <a:p>
            <a:pPr indent="-317500" lvl="0" marL="457200" rtl="0" algn="l">
              <a:spcBef>
                <a:spcPts val="0"/>
              </a:spcBef>
              <a:spcAft>
                <a:spcPts val="0"/>
              </a:spcAft>
              <a:buSzPts val="1400"/>
              <a:buChar char="●"/>
            </a:pPr>
            <a:r>
              <a:rPr lang="it" sz="1400"/>
              <a:t>Train a model with supervised learning on the dataset</a:t>
            </a:r>
            <a:endParaRPr sz="1400"/>
          </a:p>
          <a:p>
            <a:pPr indent="-317500" lvl="0" marL="457200" rtl="0" algn="l">
              <a:spcBef>
                <a:spcPts val="0"/>
              </a:spcBef>
              <a:spcAft>
                <a:spcPts val="0"/>
              </a:spcAft>
              <a:buSzPts val="1400"/>
              <a:buChar char="●"/>
            </a:pPr>
            <a:r>
              <a:rPr lang="it" sz="1400"/>
              <a:t>Validate the model</a:t>
            </a:r>
            <a:endParaRPr sz="1400"/>
          </a:p>
        </p:txBody>
      </p:sp>
      <p:grpSp>
        <p:nvGrpSpPr>
          <p:cNvPr id="79" name="Google Shape;79;p14"/>
          <p:cNvGrpSpPr/>
          <p:nvPr/>
        </p:nvGrpSpPr>
        <p:grpSpPr>
          <a:xfrm>
            <a:off x="3230400" y="1568589"/>
            <a:ext cx="2683200" cy="3086700"/>
            <a:chOff x="3230400" y="1568589"/>
            <a:chExt cx="2683200" cy="3086700"/>
          </a:xfrm>
        </p:grpSpPr>
        <p:sp>
          <p:nvSpPr>
            <p:cNvPr id="80" name="Google Shape;80;p14"/>
            <p:cNvSpPr/>
            <p:nvPr/>
          </p:nvSpPr>
          <p:spPr>
            <a:xfrm>
              <a:off x="3230400" y="1568589"/>
              <a:ext cx="2683200" cy="3086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txBox="1"/>
            <p:nvPr/>
          </p:nvSpPr>
          <p:spPr>
            <a:xfrm>
              <a:off x="3230400" y="1568600"/>
              <a:ext cx="2683200" cy="41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14"/>
          <p:cNvSpPr txBox="1"/>
          <p:nvPr>
            <p:ph idx="4294967295" type="body"/>
          </p:nvPr>
        </p:nvSpPr>
        <p:spPr>
          <a:xfrm>
            <a:off x="3316800" y="1562875"/>
            <a:ext cx="2484300" cy="4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lt1"/>
                </a:solidFill>
              </a:rPr>
              <a:t>Positioning</a:t>
            </a:r>
            <a:endParaRPr>
              <a:solidFill>
                <a:schemeClr val="lt1"/>
              </a:solidFill>
            </a:endParaRPr>
          </a:p>
        </p:txBody>
      </p:sp>
      <p:sp>
        <p:nvSpPr>
          <p:cNvPr id="83" name="Google Shape;83;p14"/>
          <p:cNvSpPr txBox="1"/>
          <p:nvPr>
            <p:ph idx="4294967295" type="body"/>
          </p:nvPr>
        </p:nvSpPr>
        <p:spPr>
          <a:xfrm>
            <a:off x="3316825" y="2091277"/>
            <a:ext cx="2484300" cy="2563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it" sz="1400"/>
              <a:t>Decide how and when the robot should move</a:t>
            </a:r>
            <a:endParaRPr sz="1400"/>
          </a:p>
          <a:p>
            <a:pPr indent="-317500" lvl="0" marL="457200" rtl="0" algn="l">
              <a:spcBef>
                <a:spcPts val="0"/>
              </a:spcBef>
              <a:spcAft>
                <a:spcPts val="0"/>
              </a:spcAft>
              <a:buSzPts val="1400"/>
              <a:buChar char="●"/>
            </a:pPr>
            <a:r>
              <a:rPr lang="it" sz="1400"/>
              <a:t>Write the trajectories functions</a:t>
            </a:r>
            <a:endParaRPr sz="1400"/>
          </a:p>
        </p:txBody>
      </p:sp>
      <p:grpSp>
        <p:nvGrpSpPr>
          <p:cNvPr id="84" name="Google Shape;84;p14"/>
          <p:cNvGrpSpPr/>
          <p:nvPr/>
        </p:nvGrpSpPr>
        <p:grpSpPr>
          <a:xfrm>
            <a:off x="6022975" y="1568589"/>
            <a:ext cx="2685450" cy="3086700"/>
            <a:chOff x="6022975" y="1568589"/>
            <a:chExt cx="2685450" cy="3086700"/>
          </a:xfrm>
        </p:grpSpPr>
        <p:sp>
          <p:nvSpPr>
            <p:cNvPr id="85" name="Google Shape;85;p14"/>
            <p:cNvSpPr/>
            <p:nvPr/>
          </p:nvSpPr>
          <p:spPr>
            <a:xfrm>
              <a:off x="6022975" y="1568589"/>
              <a:ext cx="2683200" cy="30867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txBox="1"/>
            <p:nvPr/>
          </p:nvSpPr>
          <p:spPr>
            <a:xfrm>
              <a:off x="6025225" y="1568600"/>
              <a:ext cx="2683200" cy="411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14"/>
          <p:cNvSpPr txBox="1"/>
          <p:nvPr>
            <p:ph idx="4294967295" type="body"/>
          </p:nvPr>
        </p:nvSpPr>
        <p:spPr>
          <a:xfrm>
            <a:off x="6107075" y="1562875"/>
            <a:ext cx="2484300" cy="4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solidFill>
                  <a:schemeClr val="lt1"/>
                </a:solidFill>
              </a:rPr>
              <a:t>Responding</a:t>
            </a:r>
            <a:endParaRPr>
              <a:solidFill>
                <a:schemeClr val="lt1"/>
              </a:solidFill>
            </a:endParaRPr>
          </a:p>
        </p:txBody>
      </p:sp>
      <p:sp>
        <p:nvSpPr>
          <p:cNvPr id="88" name="Google Shape;88;p14"/>
          <p:cNvSpPr txBox="1"/>
          <p:nvPr>
            <p:ph idx="4294967295" type="body"/>
          </p:nvPr>
        </p:nvSpPr>
        <p:spPr>
          <a:xfrm>
            <a:off x="6105400" y="2091277"/>
            <a:ext cx="2494500" cy="2563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it" sz="1400"/>
              <a:t>Decide the algorithm, DQN or DDPG</a:t>
            </a:r>
            <a:endParaRPr sz="1400"/>
          </a:p>
          <a:p>
            <a:pPr indent="-317500" lvl="0" marL="457200" rtl="0" algn="l">
              <a:spcBef>
                <a:spcPts val="0"/>
              </a:spcBef>
              <a:spcAft>
                <a:spcPts val="0"/>
              </a:spcAft>
              <a:buSzPts val="1400"/>
              <a:buChar char="●"/>
            </a:pPr>
            <a:r>
              <a:rPr lang="it" sz="1400"/>
              <a:t>Decide the inputs and action space</a:t>
            </a:r>
            <a:endParaRPr sz="1400"/>
          </a:p>
          <a:p>
            <a:pPr indent="-317500" lvl="0" marL="457200" rtl="0" algn="l">
              <a:spcBef>
                <a:spcPts val="0"/>
              </a:spcBef>
              <a:spcAft>
                <a:spcPts val="0"/>
              </a:spcAft>
              <a:buSzPts val="1400"/>
              <a:buChar char="●"/>
            </a:pPr>
            <a:r>
              <a:rPr lang="it" sz="1400"/>
              <a:t>Reward functions</a:t>
            </a:r>
            <a:endParaRPr sz="1400"/>
          </a:p>
          <a:p>
            <a:pPr indent="-317500" lvl="0" marL="457200" rtl="0" algn="l">
              <a:spcBef>
                <a:spcPts val="0"/>
              </a:spcBef>
              <a:spcAft>
                <a:spcPts val="0"/>
              </a:spcAft>
              <a:buSzPts val="1400"/>
              <a:buChar char="●"/>
            </a:pPr>
            <a:r>
              <a:rPr lang="it" sz="1400"/>
              <a:t>Train the model</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To create the dataset…</a:t>
            </a:r>
            <a:endParaRPr/>
          </a:p>
        </p:txBody>
      </p:sp>
      <p:sp>
        <p:nvSpPr>
          <p:cNvPr id="94" name="Google Shape;94;p1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scanned the table with some stances that we deemed could be useful in a game. We started with 11 stances and got 116.000 samples. Later we added another 97.000 samples. </a:t>
            </a:r>
            <a:endParaRPr/>
          </a:p>
          <a:p>
            <a:pPr indent="0" lvl="0" marL="0" rtl="0" algn="l">
              <a:spcBef>
                <a:spcPts val="1600"/>
              </a:spcBef>
              <a:spcAft>
                <a:spcPts val="1600"/>
              </a:spcAft>
              <a:buNone/>
            </a:pPr>
            <a:r>
              <a:rPr lang="it"/>
              <a:t> </a:t>
            </a:r>
            <a:endParaRPr/>
          </a:p>
        </p:txBody>
      </p:sp>
      <p:pic>
        <p:nvPicPr>
          <p:cNvPr id="95" name="Google Shape;95;p15"/>
          <p:cNvPicPr preferRelativeResize="0"/>
          <p:nvPr/>
        </p:nvPicPr>
        <p:blipFill>
          <a:blip r:embed="rId3">
            <a:alphaModFix/>
          </a:blip>
          <a:stretch>
            <a:fillRect/>
          </a:stretch>
        </p:blipFill>
        <p:spPr>
          <a:xfrm>
            <a:off x="1800213" y="3027488"/>
            <a:ext cx="2771775" cy="1457325"/>
          </a:xfrm>
          <a:prstGeom prst="rect">
            <a:avLst/>
          </a:prstGeom>
          <a:noFill/>
          <a:ln>
            <a:noFill/>
          </a:ln>
        </p:spPr>
      </p:pic>
      <p:pic>
        <p:nvPicPr>
          <p:cNvPr id="96" name="Google Shape;96;p15"/>
          <p:cNvPicPr preferRelativeResize="0"/>
          <p:nvPr/>
        </p:nvPicPr>
        <p:blipFill>
          <a:blip r:embed="rId4">
            <a:alphaModFix/>
          </a:blip>
          <a:stretch>
            <a:fillRect/>
          </a:stretch>
        </p:blipFill>
        <p:spPr>
          <a:xfrm>
            <a:off x="4737763" y="2670300"/>
            <a:ext cx="2200275" cy="1857375"/>
          </a:xfrm>
          <a:prstGeom prst="rect">
            <a:avLst/>
          </a:prstGeom>
          <a:noFill/>
          <a:ln>
            <a:noFill/>
          </a:ln>
        </p:spPr>
      </p:pic>
      <p:pic>
        <p:nvPicPr>
          <p:cNvPr id="97" name="Google Shape;97;p15"/>
          <p:cNvPicPr preferRelativeResize="0"/>
          <p:nvPr/>
        </p:nvPicPr>
        <p:blipFill>
          <a:blip r:embed="rId5">
            <a:alphaModFix/>
          </a:blip>
          <a:stretch>
            <a:fillRect/>
          </a:stretch>
        </p:blipFill>
        <p:spPr>
          <a:xfrm>
            <a:off x="7168475" y="2713163"/>
            <a:ext cx="1390650" cy="1771650"/>
          </a:xfrm>
          <a:prstGeom prst="rect">
            <a:avLst/>
          </a:prstGeom>
          <a:noFill/>
          <a:ln>
            <a:noFill/>
          </a:ln>
        </p:spPr>
      </p:pic>
      <p:pic>
        <p:nvPicPr>
          <p:cNvPr id="98" name="Google Shape;98;p15"/>
          <p:cNvPicPr preferRelativeResize="0"/>
          <p:nvPr/>
        </p:nvPicPr>
        <p:blipFill>
          <a:blip r:embed="rId6">
            <a:alphaModFix/>
          </a:blip>
          <a:stretch>
            <a:fillRect/>
          </a:stretch>
        </p:blipFill>
        <p:spPr>
          <a:xfrm>
            <a:off x="462863" y="3060838"/>
            <a:ext cx="1171575" cy="1390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The model architecture</a:t>
            </a:r>
            <a:endParaRPr/>
          </a:p>
        </p:txBody>
      </p:sp>
      <p:sp>
        <p:nvSpPr>
          <p:cNvPr id="104" name="Google Shape;104;p16"/>
          <p:cNvSpPr txBox="1"/>
          <p:nvPr>
            <p:ph idx="1" type="body"/>
          </p:nvPr>
        </p:nvSpPr>
        <p:spPr>
          <a:xfrm>
            <a:off x="311700" y="1034250"/>
            <a:ext cx="8520600" cy="14526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   input = x-y-z									output = joint pitches	</a:t>
            </a:r>
            <a:endParaRPr/>
          </a:p>
        </p:txBody>
      </p:sp>
      <p:pic>
        <p:nvPicPr>
          <p:cNvPr id="105" name="Google Shape;105;p16"/>
          <p:cNvPicPr preferRelativeResize="0"/>
          <p:nvPr/>
        </p:nvPicPr>
        <p:blipFill>
          <a:blip r:embed="rId3">
            <a:alphaModFix/>
          </a:blip>
          <a:stretch>
            <a:fillRect/>
          </a:stretch>
        </p:blipFill>
        <p:spPr>
          <a:xfrm>
            <a:off x="311700" y="1493500"/>
            <a:ext cx="7925501" cy="680950"/>
          </a:xfrm>
          <a:prstGeom prst="rect">
            <a:avLst/>
          </a:prstGeom>
          <a:noFill/>
          <a:ln>
            <a:noFill/>
          </a:ln>
        </p:spPr>
      </p:pic>
      <p:sp>
        <p:nvSpPr>
          <p:cNvPr id="106" name="Google Shape;106;p16"/>
          <p:cNvSpPr txBox="1"/>
          <p:nvPr/>
        </p:nvSpPr>
        <p:spPr>
          <a:xfrm>
            <a:off x="311700" y="2255425"/>
            <a:ext cx="8377800" cy="2820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2900">
                <a:solidFill>
                  <a:schemeClr val="dk1"/>
                </a:solidFill>
                <a:latin typeface="Economica"/>
                <a:ea typeface="Economica"/>
                <a:cs typeface="Economica"/>
                <a:sym typeface="Economica"/>
              </a:rPr>
              <a:t>Training</a:t>
            </a:r>
            <a:r>
              <a:rPr lang="it" sz="2900">
                <a:solidFill>
                  <a:schemeClr val="dk1"/>
                </a:solidFill>
                <a:latin typeface="Economica"/>
                <a:ea typeface="Economica"/>
                <a:cs typeface="Economica"/>
                <a:sym typeface="Economica"/>
              </a:rPr>
              <a:t> and validation</a:t>
            </a:r>
            <a:endParaRPr sz="2900">
              <a:solidFill>
                <a:schemeClr val="dk1"/>
              </a:solidFill>
              <a:latin typeface="Economica"/>
              <a:ea typeface="Economica"/>
              <a:cs typeface="Economica"/>
              <a:sym typeface="Economica"/>
            </a:endParaRPr>
          </a:p>
          <a:p>
            <a:pPr indent="-342900" lvl="0" marL="457200" rtl="0" algn="l">
              <a:lnSpc>
                <a:spcPct val="115000"/>
              </a:lnSpc>
              <a:spcBef>
                <a:spcPts val="0"/>
              </a:spcBef>
              <a:spcAft>
                <a:spcPts val="0"/>
              </a:spcAft>
              <a:buClr>
                <a:schemeClr val="dk1"/>
              </a:buClr>
              <a:buSzPts val="1800"/>
              <a:buFont typeface="Open Sans"/>
              <a:buChar char="●"/>
            </a:pPr>
            <a:r>
              <a:rPr lang="it" sz="1800">
                <a:solidFill>
                  <a:schemeClr val="dk1"/>
                </a:solidFill>
                <a:latin typeface="Open Sans"/>
                <a:ea typeface="Open Sans"/>
                <a:cs typeface="Open Sans"/>
                <a:sym typeface="Open Sans"/>
              </a:rPr>
              <a:t>100 epochs, we reached a loss of nearly 0% on training and validation set</a:t>
            </a:r>
            <a:endParaRPr sz="1800">
              <a:solidFill>
                <a:schemeClr val="dk1"/>
              </a:solidFill>
              <a:latin typeface="Open Sans"/>
              <a:ea typeface="Open Sans"/>
              <a:cs typeface="Open Sans"/>
              <a:sym typeface="Open Sans"/>
            </a:endParaRPr>
          </a:p>
          <a:p>
            <a:pPr indent="-342900" lvl="0" marL="457200" rtl="0" algn="l">
              <a:lnSpc>
                <a:spcPct val="115000"/>
              </a:lnSpc>
              <a:spcBef>
                <a:spcPts val="0"/>
              </a:spcBef>
              <a:spcAft>
                <a:spcPts val="0"/>
              </a:spcAft>
              <a:buClr>
                <a:schemeClr val="dk1"/>
              </a:buClr>
              <a:buSzPts val="1800"/>
              <a:buFont typeface="Open Sans"/>
              <a:buChar char="●"/>
            </a:pPr>
            <a:r>
              <a:rPr lang="it" sz="1800">
                <a:solidFill>
                  <a:schemeClr val="dk1"/>
                </a:solidFill>
                <a:latin typeface="Open Sans"/>
                <a:ea typeface="Open Sans"/>
                <a:cs typeface="Open Sans"/>
                <a:sym typeface="Open Sans"/>
              </a:rPr>
              <a:t>Environment test: we added noise to the x-y-z coordinate and checked the distance between the desired x-y-z and the actual distant, getting a mean distance of 0.0198</a:t>
            </a:r>
            <a:endParaRPr sz="1800">
              <a:solidFill>
                <a:schemeClr val="dk1"/>
              </a:solidFill>
              <a:latin typeface="Open Sans"/>
              <a:ea typeface="Open Sans"/>
              <a:cs typeface="Open Sans"/>
              <a:sym typeface="Open Sans"/>
            </a:endParaRPr>
          </a:p>
          <a:p>
            <a:pPr indent="-342900" lvl="0" marL="457200" rtl="0" algn="l">
              <a:lnSpc>
                <a:spcPct val="115000"/>
              </a:lnSpc>
              <a:spcBef>
                <a:spcPts val="0"/>
              </a:spcBef>
              <a:spcAft>
                <a:spcPts val="0"/>
              </a:spcAft>
              <a:buClr>
                <a:schemeClr val="dk1"/>
              </a:buClr>
              <a:buSzPts val="1800"/>
              <a:buFont typeface="Open Sans"/>
              <a:buChar char="●"/>
            </a:pPr>
            <a:r>
              <a:rPr lang="it" sz="1800">
                <a:solidFill>
                  <a:schemeClr val="dk1"/>
                </a:solidFill>
                <a:latin typeface="Open Sans"/>
                <a:ea typeface="Open Sans"/>
                <a:cs typeface="Open Sans"/>
                <a:sym typeface="Open Sans"/>
              </a:rPr>
              <a:t>The model kept being validated during the following steps (bringing the augmentation of the dataset)</a:t>
            </a:r>
            <a:endParaRPr sz="1800">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Positioning algorithm</a:t>
            </a:r>
            <a:endParaRPr/>
          </a:p>
        </p:txBody>
      </p:sp>
      <p:sp>
        <p:nvSpPr>
          <p:cNvPr id="112" name="Google Shape;112;p17"/>
          <p:cNvSpPr txBox="1"/>
          <p:nvPr>
            <p:ph idx="1" type="body"/>
          </p:nvPr>
        </p:nvSpPr>
        <p:spPr>
          <a:xfrm>
            <a:off x="311700" y="1225225"/>
            <a:ext cx="38682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decided to play the ball after the bounce on our side of the table.</a:t>
            </a:r>
            <a:endParaRPr/>
          </a:p>
          <a:p>
            <a:pPr indent="0" lvl="0" marL="0" rtl="0" algn="l">
              <a:spcBef>
                <a:spcPts val="1600"/>
              </a:spcBef>
              <a:spcAft>
                <a:spcPts val="0"/>
              </a:spcAft>
              <a:buNone/>
            </a:pPr>
            <a:r>
              <a:rPr lang="it"/>
              <a:t>We try to hit the  ball when its height is at 0.2 if it is reasonable.</a:t>
            </a:r>
            <a:endParaRPr/>
          </a:p>
          <a:p>
            <a:pPr indent="0" lvl="0" marL="0" rtl="0" algn="l">
              <a:spcBef>
                <a:spcPts val="1600"/>
              </a:spcBef>
              <a:spcAft>
                <a:spcPts val="0"/>
              </a:spcAft>
              <a:buNone/>
            </a:pPr>
            <a:r>
              <a:rPr lang="it"/>
              <a:t>While the ball has not hit our table, we shadow it’s movement on the x-axis or avoid it based on if it is going out or not.</a:t>
            </a:r>
            <a:endParaRPr/>
          </a:p>
          <a:p>
            <a:pPr indent="0" lvl="0" marL="0" rtl="0" algn="l">
              <a:spcBef>
                <a:spcPts val="1600"/>
              </a:spcBef>
              <a:spcAft>
                <a:spcPts val="1600"/>
              </a:spcAft>
              <a:buNone/>
            </a:pPr>
            <a:r>
              <a:t/>
            </a:r>
            <a:endParaRPr/>
          </a:p>
        </p:txBody>
      </p:sp>
      <p:pic>
        <p:nvPicPr>
          <p:cNvPr id="113" name="Google Shape;113;p17"/>
          <p:cNvPicPr preferRelativeResize="0"/>
          <p:nvPr/>
        </p:nvPicPr>
        <p:blipFill rotWithShape="1">
          <a:blip r:embed="rId3">
            <a:alphaModFix/>
          </a:blip>
          <a:srcRect b="-765" l="0" r="-9998" t="0"/>
          <a:stretch/>
        </p:blipFill>
        <p:spPr>
          <a:xfrm>
            <a:off x="4179900" y="693025"/>
            <a:ext cx="4734125" cy="394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The trajectory function</a:t>
            </a:r>
            <a:endParaRPr/>
          </a:p>
        </p:txBody>
      </p:sp>
      <p:sp>
        <p:nvSpPr>
          <p:cNvPr id="119" name="Google Shape;119;p18"/>
          <p:cNvSpPr txBox="1"/>
          <p:nvPr>
            <p:ph idx="1" type="body"/>
          </p:nvPr>
        </p:nvSpPr>
        <p:spPr>
          <a:xfrm>
            <a:off x="311700" y="1225225"/>
            <a:ext cx="4626300" cy="161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a:t>
            </a:r>
            <a:r>
              <a:rPr lang="it"/>
              <a:t>he projectile motion is used for the trajectory</a:t>
            </a:r>
            <a:endParaRPr/>
          </a:p>
          <a:p>
            <a:pPr indent="0" lvl="0" marL="0" rtl="0" algn="l">
              <a:spcBef>
                <a:spcPts val="1600"/>
              </a:spcBef>
              <a:spcAft>
                <a:spcPts val="0"/>
              </a:spcAft>
              <a:buClr>
                <a:schemeClr val="dk1"/>
              </a:buClr>
              <a:buSzPts val="1100"/>
              <a:buFont typeface="Arial"/>
              <a:buNone/>
            </a:pPr>
            <a:r>
              <a:rPr lang="it"/>
              <a:t>The flight time for the desired height is calculated</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120" name="Google Shape;120;p18"/>
          <p:cNvPicPr preferRelativeResize="0"/>
          <p:nvPr/>
        </p:nvPicPr>
        <p:blipFill>
          <a:blip r:embed="rId3">
            <a:alphaModFix/>
          </a:blip>
          <a:stretch>
            <a:fillRect/>
          </a:stretch>
        </p:blipFill>
        <p:spPr>
          <a:xfrm>
            <a:off x="4937871" y="544525"/>
            <a:ext cx="3894425" cy="1439100"/>
          </a:xfrm>
          <a:prstGeom prst="rect">
            <a:avLst/>
          </a:prstGeom>
          <a:noFill/>
          <a:ln>
            <a:noFill/>
          </a:ln>
        </p:spPr>
      </p:pic>
      <p:pic>
        <p:nvPicPr>
          <p:cNvPr id="121" name="Google Shape;121;p18"/>
          <p:cNvPicPr preferRelativeResize="0"/>
          <p:nvPr/>
        </p:nvPicPr>
        <p:blipFill>
          <a:blip r:embed="rId4">
            <a:alphaModFix/>
          </a:blip>
          <a:stretch>
            <a:fillRect/>
          </a:stretch>
        </p:blipFill>
        <p:spPr>
          <a:xfrm>
            <a:off x="1773175" y="2461524"/>
            <a:ext cx="7092973" cy="1012525"/>
          </a:xfrm>
          <a:prstGeom prst="rect">
            <a:avLst/>
          </a:prstGeom>
          <a:noFill/>
          <a:ln>
            <a:noFill/>
          </a:ln>
        </p:spPr>
      </p:pic>
      <p:pic>
        <p:nvPicPr>
          <p:cNvPr id="122" name="Google Shape;122;p18"/>
          <p:cNvPicPr preferRelativeResize="0"/>
          <p:nvPr/>
        </p:nvPicPr>
        <p:blipFill>
          <a:blip r:embed="rId5">
            <a:alphaModFix/>
          </a:blip>
          <a:stretch>
            <a:fillRect/>
          </a:stretch>
        </p:blipFill>
        <p:spPr>
          <a:xfrm>
            <a:off x="3056325" y="4307175"/>
            <a:ext cx="5775974" cy="516050"/>
          </a:xfrm>
          <a:prstGeom prst="rect">
            <a:avLst/>
          </a:prstGeom>
          <a:noFill/>
          <a:ln>
            <a:noFill/>
          </a:ln>
        </p:spPr>
      </p:pic>
      <p:sp>
        <p:nvSpPr>
          <p:cNvPr id="123" name="Google Shape;123;p18"/>
          <p:cNvSpPr txBox="1"/>
          <p:nvPr>
            <p:ph idx="1" type="body"/>
          </p:nvPr>
        </p:nvSpPr>
        <p:spPr>
          <a:xfrm>
            <a:off x="311700" y="3495513"/>
            <a:ext cx="4942500" cy="79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max time obtained is used to calculate x and y, if the value under root is not negative</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Main ideas on how to learn to respond</a:t>
            </a:r>
            <a:endParaRPr/>
          </a:p>
        </p:txBody>
      </p:sp>
      <p:sp>
        <p:nvSpPr>
          <p:cNvPr id="129" name="Google Shape;129;p19"/>
          <p:cNvSpPr txBox="1"/>
          <p:nvPr>
            <p:ph idx="1" type="body"/>
          </p:nvPr>
        </p:nvSpPr>
        <p:spPr>
          <a:xfrm>
            <a:off x="311700" y="1175600"/>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it"/>
              <a:t>Use a reinforcement learning approach</a:t>
            </a:r>
            <a:endParaRPr/>
          </a:p>
          <a:p>
            <a:pPr indent="-342900" lvl="0" marL="457200" rtl="0" algn="l">
              <a:spcBef>
                <a:spcPts val="0"/>
              </a:spcBef>
              <a:spcAft>
                <a:spcPts val="0"/>
              </a:spcAft>
              <a:buSzPts val="1800"/>
              <a:buChar char="●"/>
            </a:pPr>
            <a:r>
              <a:rPr lang="it"/>
              <a:t>Try to hit ball when it’s within a range of 0.3, after it bounced on our side of the table</a:t>
            </a:r>
            <a:endParaRPr/>
          </a:p>
          <a:p>
            <a:pPr indent="-342900" lvl="0" marL="457200" rtl="0" algn="l">
              <a:spcBef>
                <a:spcPts val="0"/>
              </a:spcBef>
              <a:spcAft>
                <a:spcPts val="0"/>
              </a:spcAft>
              <a:buSzPts val="1800"/>
              <a:buChar char="●"/>
            </a:pPr>
            <a:r>
              <a:rPr lang="it"/>
              <a:t>Trying to hit the balls means to adjust the pitch of the paddle, we briefly explored the idea to also adjust the rotation with the reinforcement learning model, but to speed up training we have chosen to limit ourselves to pitches and hard code slight rotation to the paddle when responding.</a:t>
            </a:r>
            <a:endParaRPr/>
          </a:p>
          <a:p>
            <a:pPr indent="-342900" lvl="0" marL="457200" rtl="0" algn="l">
              <a:spcBef>
                <a:spcPts val="0"/>
              </a:spcBef>
              <a:spcAft>
                <a:spcPts val="0"/>
              </a:spcAft>
              <a:buSzPts val="1800"/>
              <a:buChar char="●"/>
            </a:pPr>
            <a:r>
              <a:rPr lang="it"/>
              <a:t>Meaningful </a:t>
            </a:r>
            <a:r>
              <a:rPr lang="it"/>
              <a:t>transitions</a:t>
            </a:r>
            <a:r>
              <a:rPr lang="it"/>
              <a:t>: add transitions in the replay buffer only when the action of the robotic arm had an effect on the ball trajectory.</a:t>
            </a:r>
            <a:endParaRPr/>
          </a:p>
          <a:p>
            <a:pPr indent="0" lvl="0" marL="45720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First approach: DQN</a:t>
            </a:r>
            <a:endParaRPr/>
          </a:p>
        </p:txBody>
      </p:sp>
      <p:sp>
        <p:nvSpPr>
          <p:cNvPr id="135" name="Google Shape;135;p2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With these action space values = [0.0,0.2,0.4,...,2.2] </a:t>
            </a:r>
            <a:endParaRPr/>
          </a:p>
          <a:p>
            <a:pPr indent="0" lvl="0" marL="0" rtl="0" algn="l">
              <a:spcBef>
                <a:spcPts val="1600"/>
              </a:spcBef>
              <a:spcAft>
                <a:spcPts val="0"/>
              </a:spcAft>
              <a:buNone/>
            </a:pPr>
            <a:r>
              <a:rPr lang="it"/>
              <a:t>With this reward function =  1 if scored, -1 if not.</a:t>
            </a:r>
            <a:endParaRPr/>
          </a:p>
          <a:p>
            <a:pPr indent="0" lvl="0" marL="0" rtl="0" algn="l">
              <a:spcBef>
                <a:spcPts val="1600"/>
              </a:spcBef>
              <a:spcAft>
                <a:spcPts val="0"/>
              </a:spcAft>
              <a:buNone/>
            </a:pPr>
            <a:r>
              <a:rPr lang="it"/>
              <a:t>With this input values = ball position &amp; velocity</a:t>
            </a:r>
            <a:endParaRPr/>
          </a:p>
          <a:p>
            <a:pPr indent="0" lvl="0" marL="0" rtl="0" algn="l">
              <a:spcBef>
                <a:spcPts val="1600"/>
              </a:spcBef>
              <a:spcAft>
                <a:spcPts val="0"/>
              </a:spcAft>
              <a:buNone/>
            </a:pPr>
            <a:r>
              <a:rPr lang="it"/>
              <a:t>With this architecture = 3 layer norm+relu, 256 neuron per layer</a:t>
            </a:r>
            <a:endParaRPr/>
          </a:p>
          <a:p>
            <a:pPr indent="0" lvl="0" marL="0" rtl="0" algn="l">
              <a:spcBef>
                <a:spcPts val="1600"/>
              </a:spcBef>
              <a:spcAft>
                <a:spcPts val="1600"/>
              </a:spcAft>
              <a:buNone/>
            </a:pPr>
            <a:r>
              <a:rPr lang="it"/>
              <a:t>All transactions are final, so no need for a q-target network.</a:t>
            </a:r>
            <a:endParaRPr/>
          </a:p>
        </p:txBody>
      </p:sp>
      <p:pic>
        <p:nvPicPr>
          <p:cNvPr id="136" name="Google Shape;136;p20"/>
          <p:cNvPicPr preferRelativeResize="0"/>
          <p:nvPr/>
        </p:nvPicPr>
        <p:blipFill>
          <a:blip r:embed="rId3">
            <a:alphaModFix/>
          </a:blip>
          <a:stretch>
            <a:fillRect/>
          </a:stretch>
        </p:blipFill>
        <p:spPr>
          <a:xfrm>
            <a:off x="0" y="3761300"/>
            <a:ext cx="9144003" cy="1229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Result with DQN, sameserve</a:t>
            </a:r>
            <a:endParaRPr/>
          </a:p>
        </p:txBody>
      </p:sp>
      <p:sp>
        <p:nvSpPr>
          <p:cNvPr id="142" name="Google Shape;142;p21"/>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342900" lvl="0" marL="457200" rtl="0" algn="l">
              <a:spcBef>
                <a:spcPts val="1600"/>
              </a:spcBef>
              <a:spcAft>
                <a:spcPts val="0"/>
              </a:spcAft>
              <a:buSzPts val="1800"/>
              <a:buChar char="●"/>
            </a:pPr>
            <a:r>
              <a:rPr lang="it"/>
              <a:t>0.75 -&gt; 87% success rate, -0.75 -&gt; 12% success rate</a:t>
            </a:r>
            <a:endParaRPr/>
          </a:p>
          <a:p>
            <a:pPr indent="-342900" lvl="0" marL="457200" rtl="0" algn="l">
              <a:spcBef>
                <a:spcPts val="1600"/>
              </a:spcBef>
              <a:spcAft>
                <a:spcPts val="0"/>
              </a:spcAft>
              <a:buSzPts val="1800"/>
              <a:buChar char="●"/>
            </a:pPr>
            <a:r>
              <a:rPr lang="it"/>
              <a:t>Possible cause for the drop: relatively small replay buffer (1000)</a:t>
            </a:r>
            <a:endParaRPr/>
          </a:p>
          <a:p>
            <a:pPr indent="0" lvl="0" marL="457200" rtl="0" algn="l">
              <a:spcBef>
                <a:spcPts val="1600"/>
              </a:spcBef>
              <a:spcAft>
                <a:spcPts val="1600"/>
              </a:spcAft>
              <a:buNone/>
            </a:pPr>
            <a:r>
              <a:t/>
            </a:r>
            <a:endParaRPr/>
          </a:p>
        </p:txBody>
      </p:sp>
      <p:pic>
        <p:nvPicPr>
          <p:cNvPr id="143" name="Google Shape;143;p21"/>
          <p:cNvPicPr preferRelativeResize="0"/>
          <p:nvPr/>
        </p:nvPicPr>
        <p:blipFill>
          <a:blip r:embed="rId3">
            <a:alphaModFix/>
          </a:blip>
          <a:stretch>
            <a:fillRect/>
          </a:stretch>
        </p:blipFill>
        <p:spPr>
          <a:xfrm>
            <a:off x="164975" y="1123625"/>
            <a:ext cx="8612175" cy="2222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Is DQN good enough?</a:t>
            </a:r>
            <a:endParaRPr/>
          </a:p>
        </p:txBody>
      </p:sp>
      <p:sp>
        <p:nvSpPr>
          <p:cNvPr id="149" name="Google Shape;149;p22"/>
          <p:cNvSpPr txBox="1"/>
          <p:nvPr>
            <p:ph idx="1" type="body"/>
          </p:nvPr>
        </p:nvSpPr>
        <p:spPr>
          <a:xfrm>
            <a:off x="35425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have been using a discrete action space to handle a continuous task. </a:t>
            </a:r>
            <a:endParaRPr/>
          </a:p>
          <a:p>
            <a:pPr indent="0" lvl="0" marL="0" rtl="0" algn="l">
              <a:spcBef>
                <a:spcPts val="1600"/>
              </a:spcBef>
              <a:spcAft>
                <a:spcPts val="0"/>
              </a:spcAft>
              <a:buNone/>
            </a:pPr>
            <a:r>
              <a:rPr lang="it"/>
              <a:t>The paddle might hit the ball too weakly or too strongly, lacking the capability to determine the optimal shot that may fall in between two actions.</a:t>
            </a:r>
            <a:endParaRPr/>
          </a:p>
          <a:p>
            <a:pPr indent="0" lvl="0" marL="0" rtl="0" algn="l">
              <a:spcBef>
                <a:spcPts val="1600"/>
              </a:spcBef>
              <a:spcAft>
                <a:spcPts val="0"/>
              </a:spcAft>
              <a:buNone/>
            </a:pPr>
            <a:r>
              <a:rPr lang="it"/>
              <a:t>The discrete nature of the action space does not allow for fine-tuning and may result in less effective control over the ball.</a:t>
            </a:r>
            <a:endParaRPr/>
          </a:p>
          <a:p>
            <a:pPr indent="0" lvl="0" marL="0" rtl="0" algn="l">
              <a:spcBef>
                <a:spcPts val="1600"/>
              </a:spcBef>
              <a:spcAft>
                <a:spcPts val="1600"/>
              </a:spcAft>
              <a:buNone/>
            </a:pPr>
            <a:r>
              <a:rPr lang="it"/>
              <a:t>There are infinite possible actions between 0.0 and 0.2, so we decided to try a different approach.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311700" y="2038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DDPG</a:t>
            </a:r>
            <a:endParaRPr/>
          </a:p>
        </p:txBody>
      </p:sp>
      <p:sp>
        <p:nvSpPr>
          <p:cNvPr id="155" name="Google Shape;155;p23"/>
          <p:cNvSpPr txBox="1"/>
          <p:nvPr>
            <p:ph idx="1" type="body"/>
          </p:nvPr>
        </p:nvSpPr>
        <p:spPr>
          <a:xfrm>
            <a:off x="311700" y="10351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 order to have a </a:t>
            </a:r>
            <a:r>
              <a:rPr lang="it"/>
              <a:t>continuous </a:t>
            </a:r>
            <a:r>
              <a:rPr lang="it"/>
              <a:t>action space we use the ddpg algorithm.</a:t>
            </a:r>
            <a:endParaRPr/>
          </a:p>
          <a:p>
            <a:pPr indent="0" lvl="0" marL="0" rtl="0" algn="l">
              <a:spcBef>
                <a:spcPts val="1600"/>
              </a:spcBef>
              <a:spcAft>
                <a:spcPts val="0"/>
              </a:spcAft>
              <a:buNone/>
            </a:pPr>
            <a:r>
              <a:rPr lang="it"/>
              <a:t>The Actor and Critic networks have two different architectures, the actor network has 2 hidden layer with 128 and 256 neurons while the critic network has 3 hidden layer with 128, 256 and 256 neurons. Both networks use normalization layers and a ReLU activation function for the hidden layers.</a:t>
            </a:r>
            <a:endParaRPr/>
          </a:p>
          <a:p>
            <a:pPr indent="0" lvl="0" marL="0" rtl="0" algn="l">
              <a:spcBef>
                <a:spcPts val="1600"/>
              </a:spcBef>
              <a:spcAft>
                <a:spcPts val="0"/>
              </a:spcAft>
              <a:buNone/>
            </a:pPr>
            <a:r>
              <a:rPr lang="it"/>
              <a:t>The Actor network gives us the action to perform, </a:t>
            </a:r>
            <a:r>
              <a:rPr lang="it"/>
              <a:t>action which is between 0 and 1 due to the activation function of the output layer being a sigmoid.</a:t>
            </a:r>
            <a:endParaRPr/>
          </a:p>
          <a:p>
            <a:pPr indent="0" lvl="0" marL="0" rtl="0" algn="l">
              <a:spcBef>
                <a:spcPts val="1600"/>
              </a:spcBef>
              <a:spcAft>
                <a:spcPts val="1600"/>
              </a:spcAft>
              <a:buNone/>
            </a:pPr>
            <a:r>
              <a:rPr lang="it"/>
              <a:t>Unlike discrete actions which had a maximum value of 2.2 after some simulation we observe that actions greater than 1 hit the ball to hard so we directly use the output of the sigmoid function.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333225" y="79200"/>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Reward functions</a:t>
            </a:r>
            <a:endParaRPr/>
          </a:p>
        </p:txBody>
      </p:sp>
      <p:sp>
        <p:nvSpPr>
          <p:cNvPr id="161" name="Google Shape;161;p24"/>
          <p:cNvSpPr txBox="1"/>
          <p:nvPr>
            <p:ph idx="1" type="body"/>
          </p:nvPr>
        </p:nvSpPr>
        <p:spPr>
          <a:xfrm>
            <a:off x="225625" y="894750"/>
            <a:ext cx="3948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We tested different reward functions:</a:t>
            </a:r>
            <a:endParaRPr/>
          </a:p>
          <a:p>
            <a:pPr indent="-342900" lvl="0" marL="457200" rtl="0" algn="l">
              <a:spcBef>
                <a:spcPts val="1600"/>
              </a:spcBef>
              <a:spcAft>
                <a:spcPts val="0"/>
              </a:spcAft>
              <a:buSzPts val="1800"/>
              <a:buChar char="●"/>
            </a:pPr>
            <a:r>
              <a:rPr lang="it"/>
              <a:t>The first had a target depth and gave reward based on the distance from it and speed of the ball also</a:t>
            </a:r>
            <a:endParaRPr/>
          </a:p>
          <a:p>
            <a:pPr indent="-342900" lvl="0" marL="457200" rtl="0" algn="l">
              <a:spcBef>
                <a:spcPts val="0"/>
              </a:spcBef>
              <a:spcAft>
                <a:spcPts val="0"/>
              </a:spcAft>
              <a:buSzPts val="1800"/>
              <a:buChar char="●"/>
            </a:pPr>
            <a:r>
              <a:rPr lang="it"/>
              <a:t>The second divided the table in different zones and gave reward based on those</a:t>
            </a:r>
            <a:endParaRPr/>
          </a:p>
          <a:p>
            <a:pPr indent="-342900" lvl="0" marL="457200" rtl="0" algn="l">
              <a:spcBef>
                <a:spcPts val="0"/>
              </a:spcBef>
              <a:spcAft>
                <a:spcPts val="0"/>
              </a:spcAft>
              <a:buSzPts val="1800"/>
              <a:buChar char="●"/>
            </a:pPr>
            <a:r>
              <a:rPr lang="it"/>
              <a:t>Both gave penalty based on how far the shot missed</a:t>
            </a:r>
            <a:endParaRPr/>
          </a:p>
        </p:txBody>
      </p:sp>
      <p:pic>
        <p:nvPicPr>
          <p:cNvPr id="162" name="Google Shape;162;p24"/>
          <p:cNvPicPr preferRelativeResize="0"/>
          <p:nvPr/>
        </p:nvPicPr>
        <p:blipFill>
          <a:blip r:embed="rId3">
            <a:alphaModFix/>
          </a:blip>
          <a:stretch>
            <a:fillRect/>
          </a:stretch>
        </p:blipFill>
        <p:spPr>
          <a:xfrm>
            <a:off x="4348650" y="48425"/>
            <a:ext cx="4483651" cy="2160600"/>
          </a:xfrm>
          <a:prstGeom prst="rect">
            <a:avLst/>
          </a:prstGeom>
          <a:noFill/>
          <a:ln>
            <a:noFill/>
          </a:ln>
        </p:spPr>
      </p:pic>
      <p:pic>
        <p:nvPicPr>
          <p:cNvPr id="163" name="Google Shape;163;p24"/>
          <p:cNvPicPr preferRelativeResize="0"/>
          <p:nvPr/>
        </p:nvPicPr>
        <p:blipFill>
          <a:blip r:embed="rId4">
            <a:alphaModFix/>
          </a:blip>
          <a:stretch>
            <a:fillRect/>
          </a:stretch>
        </p:blipFill>
        <p:spPr>
          <a:xfrm>
            <a:off x="4383670" y="2209025"/>
            <a:ext cx="3762976" cy="25517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DDPG for sameserve mode</a:t>
            </a:r>
            <a:endParaRPr/>
          </a:p>
        </p:txBody>
      </p:sp>
      <p:sp>
        <p:nvSpPr>
          <p:cNvPr id="169" name="Google Shape;169;p25"/>
          <p:cNvSpPr txBox="1"/>
          <p:nvPr>
            <p:ph idx="1" type="body"/>
          </p:nvPr>
        </p:nvSpPr>
        <p:spPr>
          <a:xfrm>
            <a:off x="311700" y="1225225"/>
            <a:ext cx="8520600" cy="1116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We initially trained our agent to respond to service only using a dummy player to see if there was an </a:t>
            </a:r>
            <a:r>
              <a:rPr lang="it"/>
              <a:t>improvement</a:t>
            </a:r>
            <a:r>
              <a:rPr lang="it"/>
              <a:t> in the performance wrt the dqn </a:t>
            </a:r>
            <a:r>
              <a:rPr lang="it"/>
              <a:t>approach</a:t>
            </a:r>
            <a:r>
              <a:rPr lang="it"/>
              <a:t>. </a:t>
            </a:r>
            <a:endParaRPr/>
          </a:p>
        </p:txBody>
      </p:sp>
      <p:pic>
        <p:nvPicPr>
          <p:cNvPr id="170" name="Google Shape;170;p25" title="Continuous Action"/>
          <p:cNvPicPr preferRelativeResize="0"/>
          <p:nvPr/>
        </p:nvPicPr>
        <p:blipFill>
          <a:blip r:embed="rId3">
            <a:alphaModFix/>
          </a:blip>
          <a:stretch>
            <a:fillRect/>
          </a:stretch>
        </p:blipFill>
        <p:spPr>
          <a:xfrm>
            <a:off x="4793244" y="2207875"/>
            <a:ext cx="4039044" cy="2497476"/>
          </a:xfrm>
          <a:prstGeom prst="rect">
            <a:avLst/>
          </a:prstGeom>
          <a:noFill/>
          <a:ln>
            <a:noFill/>
          </a:ln>
        </p:spPr>
      </p:pic>
      <p:pic>
        <p:nvPicPr>
          <p:cNvPr id="171" name="Google Shape;171;p25" title="Continuous Action"/>
          <p:cNvPicPr preferRelativeResize="0"/>
          <p:nvPr/>
        </p:nvPicPr>
        <p:blipFill>
          <a:blip r:embed="rId4">
            <a:alphaModFix/>
          </a:blip>
          <a:stretch>
            <a:fillRect/>
          </a:stretch>
        </p:blipFill>
        <p:spPr>
          <a:xfrm>
            <a:off x="311701" y="2154225"/>
            <a:ext cx="4212582" cy="26047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An additional reward</a:t>
            </a:r>
            <a:endParaRPr/>
          </a:p>
        </p:txBody>
      </p:sp>
      <p:sp>
        <p:nvSpPr>
          <p:cNvPr id="177" name="Google Shape;177;p26"/>
          <p:cNvSpPr txBox="1"/>
          <p:nvPr>
            <p:ph idx="1" type="body"/>
          </p:nvPr>
        </p:nvSpPr>
        <p:spPr>
          <a:xfrm>
            <a:off x="311700" y="1225225"/>
            <a:ext cx="78297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We have defined a further reward function which is responsible for assigning a positive reward to the agent when he scores a point and a negative one when he doesn’t.</a:t>
            </a:r>
            <a:endParaRPr/>
          </a:p>
        </p:txBody>
      </p:sp>
      <p:pic>
        <p:nvPicPr>
          <p:cNvPr id="178" name="Google Shape;178;p26"/>
          <p:cNvPicPr preferRelativeResize="0"/>
          <p:nvPr/>
        </p:nvPicPr>
        <p:blipFill>
          <a:blip r:embed="rId3">
            <a:alphaModFix/>
          </a:blip>
          <a:stretch>
            <a:fillRect/>
          </a:stretch>
        </p:blipFill>
        <p:spPr>
          <a:xfrm>
            <a:off x="1537450" y="1908327"/>
            <a:ext cx="5806850" cy="2871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After training our agent to return the serve in an acceptable manner, we moved on to training the agent to respond not only to the serve but also to the opponent's shots. To do this we loaded the trained model in evaluation mode and use it as our opponent.</a:t>
            </a:r>
            <a:endParaRPr/>
          </a:p>
          <a:p>
            <a:pPr indent="0" lvl="0" marL="0" rtl="0" algn="l">
              <a:spcBef>
                <a:spcPts val="1600"/>
              </a:spcBef>
              <a:spcAft>
                <a:spcPts val="1600"/>
              </a:spcAft>
              <a:buNone/>
            </a:pPr>
            <a:r>
              <a:rPr lang="it"/>
              <a:t>After a </a:t>
            </a:r>
            <a:r>
              <a:rPr lang="it"/>
              <a:t>certain number of episodes we replaced our opponent with the last trained model that now knows how to return the serves and the opponent’s shots, so that the model in training can have increasingly longer and more varied exchanges of shots available.</a:t>
            </a:r>
            <a:endParaRPr/>
          </a:p>
        </p:txBody>
      </p:sp>
      <p:sp>
        <p:nvSpPr>
          <p:cNvPr id="184" name="Google Shape;184;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Next step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311700" y="1655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it"/>
              <a:t>Final result</a:t>
            </a:r>
            <a:endParaRPr/>
          </a:p>
        </p:txBody>
      </p:sp>
      <p:sp>
        <p:nvSpPr>
          <p:cNvPr id="190" name="Google Shape;190;p28"/>
          <p:cNvSpPr txBox="1"/>
          <p:nvPr>
            <p:ph idx="1" type="body"/>
          </p:nvPr>
        </p:nvSpPr>
        <p:spPr>
          <a:xfrm>
            <a:off x="311700" y="1488650"/>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After training our agent for about 8000 episodes we took the models that obtained the greatest mean reward and tested each of them against auto and finally choose the final model based on the performance shown on the winning rate against auto.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9" title="Model at 2524 ep"/>
          <p:cNvPicPr preferRelativeResize="0"/>
          <p:nvPr/>
        </p:nvPicPr>
        <p:blipFill>
          <a:blip r:embed="rId3">
            <a:alphaModFix/>
          </a:blip>
          <a:stretch>
            <a:fillRect/>
          </a:stretch>
        </p:blipFill>
        <p:spPr>
          <a:xfrm>
            <a:off x="302875" y="246575"/>
            <a:ext cx="3760425" cy="2325166"/>
          </a:xfrm>
          <a:prstGeom prst="rect">
            <a:avLst/>
          </a:prstGeom>
          <a:noFill/>
          <a:ln>
            <a:noFill/>
          </a:ln>
        </p:spPr>
      </p:pic>
      <p:pic>
        <p:nvPicPr>
          <p:cNvPr id="196" name="Google Shape;196;p29" title="Model at 3938 ep"/>
          <p:cNvPicPr preferRelativeResize="0"/>
          <p:nvPr/>
        </p:nvPicPr>
        <p:blipFill>
          <a:blip r:embed="rId4">
            <a:alphaModFix/>
          </a:blip>
          <a:stretch>
            <a:fillRect/>
          </a:stretch>
        </p:blipFill>
        <p:spPr>
          <a:xfrm>
            <a:off x="4711800" y="246562"/>
            <a:ext cx="3760425" cy="2325200"/>
          </a:xfrm>
          <a:prstGeom prst="rect">
            <a:avLst/>
          </a:prstGeom>
          <a:noFill/>
          <a:ln>
            <a:noFill/>
          </a:ln>
        </p:spPr>
      </p:pic>
      <p:pic>
        <p:nvPicPr>
          <p:cNvPr id="197" name="Google Shape;197;p29" title="Model at 2524 ep"/>
          <p:cNvPicPr preferRelativeResize="0"/>
          <p:nvPr/>
        </p:nvPicPr>
        <p:blipFill>
          <a:blip r:embed="rId5">
            <a:alphaModFix/>
          </a:blip>
          <a:stretch>
            <a:fillRect/>
          </a:stretch>
        </p:blipFill>
        <p:spPr>
          <a:xfrm>
            <a:off x="349963" y="2663991"/>
            <a:ext cx="3666240" cy="2266958"/>
          </a:xfrm>
          <a:prstGeom prst="rect">
            <a:avLst/>
          </a:prstGeom>
          <a:noFill/>
          <a:ln>
            <a:noFill/>
          </a:ln>
        </p:spPr>
      </p:pic>
      <p:pic>
        <p:nvPicPr>
          <p:cNvPr id="198" name="Google Shape;198;p29" title="Model at 5554 ep"/>
          <p:cNvPicPr preferRelativeResize="0"/>
          <p:nvPr/>
        </p:nvPicPr>
        <p:blipFill>
          <a:blip r:embed="rId6">
            <a:alphaModFix/>
          </a:blip>
          <a:stretch>
            <a:fillRect/>
          </a:stretch>
        </p:blipFill>
        <p:spPr>
          <a:xfrm>
            <a:off x="4758890" y="2663991"/>
            <a:ext cx="3666240" cy="22669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